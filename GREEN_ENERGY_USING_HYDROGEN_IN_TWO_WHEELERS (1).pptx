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312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87627"/>
            <a:ext cx="7143750" cy="169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GREEN ENERGY USING
HYDROGEN IN TWO WHEELERS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914400" y="3527840"/>
            <a:ext cx="71437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Zeroth Review - Final Year Project Phase 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4018973"/>
            <a:ext cx="7143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Presented By:</a:t>
            </a: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Project Team Members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14400" y="4390448"/>
            <a:ext cx="7143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 the Guidance of:</a:t>
            </a: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Project Supervisor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" y="4761923"/>
            <a:ext cx="7143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Department:</a:t>
            </a: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Mechanical / Electrical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6106"/>
            <a:ext cx="7429500" cy="82867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HYDROGEN: THE FUTURE OF TWO-WHEELERS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57250" y="1913381"/>
            <a:ext cx="742950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focuses on the </a:t>
            </a:r>
            <a:r>
              <a:rPr lang="en-US" sz="11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Renewable Energy &amp; Sustainable Transportation</a:t>
            </a:r>
            <a:r>
              <a:rPr lang="en-US" sz="11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domain, specifically integrating hydrogen as a clean alternative to fossil fuels in the two-wheeler segment.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43000" y="2559165"/>
            <a:ext cx="7143750" cy="17323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Utilization of </a:t>
            </a:r>
            <a:r>
              <a:rPr lang="en-US" sz="10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Green Hydrogen</a:t>
            </a: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achieve zero tailpipe emissions.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43000" y="2803838"/>
            <a:ext cx="7143750" cy="17323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 energy density for extended range compared to traditional batteries.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43000" y="3048512"/>
            <a:ext cx="7143750" cy="17323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alignment with global net-zero carbon goals.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57250" y="3393198"/>
            <a:ext cx="1198420" cy="326827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3393198"/>
            <a:ext cx="1198420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55670" y="3393198"/>
            <a:ext cx="2924417" cy="326827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1" name="Text 8"/>
          <p:cNvSpPr/>
          <p:nvPr/>
        </p:nvSpPr>
        <p:spPr>
          <a:xfrm>
            <a:off x="2055670" y="3393198"/>
            <a:ext cx="2924417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Mechanism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80087" y="3393198"/>
            <a:ext cx="3306663" cy="326827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3" name="Text 10"/>
          <p:cNvSpPr/>
          <p:nvPr/>
        </p:nvSpPr>
        <p:spPr>
          <a:xfrm>
            <a:off x="4980087" y="3393198"/>
            <a:ext cx="3306663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Advantage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57250" y="3720024"/>
            <a:ext cx="1198420" cy="33039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57250" y="4043279"/>
            <a:ext cx="119842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" name="Text 13"/>
          <p:cNvSpPr/>
          <p:nvPr/>
        </p:nvSpPr>
        <p:spPr>
          <a:xfrm>
            <a:off x="942975" y="3807535"/>
            <a:ext cx="850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PEM Fuel Cell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055670" y="3720024"/>
            <a:ext cx="2924417" cy="33039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2055670" y="4043279"/>
            <a:ext cx="2924417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6"/>
          <p:cNvSpPr/>
          <p:nvPr/>
        </p:nvSpPr>
        <p:spPr>
          <a:xfrm>
            <a:off x="2055670" y="3720024"/>
            <a:ext cx="2924417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Electrochemical reaction of H2 and O2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980087" y="3720024"/>
            <a:ext cx="3306663" cy="33039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980087" y="4043279"/>
            <a:ext cx="3306663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2" name="Text 19"/>
          <p:cNvSpPr/>
          <p:nvPr/>
        </p:nvSpPr>
        <p:spPr>
          <a:xfrm>
            <a:off x="4980087" y="3720024"/>
            <a:ext cx="3306663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efficiency &amp; zero emissions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57250" y="4046851"/>
            <a:ext cx="1198420" cy="33039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57250" y="4370105"/>
            <a:ext cx="119842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Text 22"/>
          <p:cNvSpPr/>
          <p:nvPr/>
        </p:nvSpPr>
        <p:spPr>
          <a:xfrm>
            <a:off x="942975" y="4134362"/>
            <a:ext cx="8590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Hydrogen ICE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055670" y="4046851"/>
            <a:ext cx="2924417" cy="33039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055670" y="4370105"/>
            <a:ext cx="2924417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Text 25"/>
          <p:cNvSpPr/>
          <p:nvPr/>
        </p:nvSpPr>
        <p:spPr>
          <a:xfrm>
            <a:off x="2055670" y="4046851"/>
            <a:ext cx="2924417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combustion in modified engine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980087" y="4046851"/>
            <a:ext cx="3306663" cy="33039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980087" y="4370105"/>
            <a:ext cx="3306663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1" name="Text 28"/>
          <p:cNvSpPr/>
          <p:nvPr/>
        </p:nvSpPr>
        <p:spPr>
          <a:xfrm>
            <a:off x="4980087" y="4046851"/>
            <a:ext cx="3306663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cost &amp; utilizes existing manufacturing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6106"/>
            <a:ext cx="7429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MOTIVATION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57250" y="1670493"/>
            <a:ext cx="3571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Environmental Urgency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7250" y="2006250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depletion of fossil fuels and increasing carbon footprint from the transportation sector demand immediate alternatives.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57250" y="2763487"/>
            <a:ext cx="3571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Net-Zero Goals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7250" y="3099243"/>
            <a:ext cx="35718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shift towards "Green Hydrogen" to achieve net-zero emission targets by 2050.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7250" y="3663600"/>
            <a:ext cx="3571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Urban Mobility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7250" y="3999356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Two-wheelers are the backbone of transport in developing nations; greening this sector has a massive cumulative impact.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14875" y="1499043"/>
            <a:ext cx="3571875" cy="3257550"/>
          </a:xfrm>
          <a:prstGeom prst="rect">
            <a:avLst/>
          </a:prstGeom>
          <a:solidFill>
            <a:srgbClr val="212121">
              <a:alpha val="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14875" y="1499043"/>
            <a:ext cx="3571875" cy="28575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2" name="Text 9"/>
          <p:cNvSpPr/>
          <p:nvPr/>
        </p:nvSpPr>
        <p:spPr>
          <a:xfrm>
            <a:off x="4929188" y="1903363"/>
            <a:ext cx="31432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HYDROGEN?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29188" y="2219474"/>
            <a:ext cx="31432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29188" y="2532013"/>
            <a:ext cx="201096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Tailpipe Emissions (only water vapor)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929188" y="2812405"/>
            <a:ext cx="31432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3x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929188" y="3124944"/>
            <a:ext cx="198239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Energy Density than Gasoline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929188" y="3405336"/>
            <a:ext cx="31432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 5 min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929188" y="3717875"/>
            <a:ext cx="204132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Refueling Time (comparable to petrol)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6106"/>
            <a:ext cx="7429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PROBLEM STATEMENT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499043"/>
            <a:ext cx="7429500" cy="1042988"/>
          </a:xfrm>
          <a:prstGeom prst="rect">
            <a:avLst/>
          </a:prstGeom>
          <a:solidFill>
            <a:srgbClr val="FF6D00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499043"/>
            <a:ext cx="35719" cy="1042988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499043"/>
            <a:ext cx="7429500" cy="1042988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urban transportation relies on fossil fuels contributing to </a:t>
            </a:r>
            <a:r>
              <a:rPr lang="en-US" sz="10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air pollution</a:t>
            </a: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while Battery Electric Vehicles (BEVs) face </a:t>
            </a:r>
            <a:r>
              <a:rPr lang="en-US" sz="10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 charging times</a:t>
            </a: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0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limited range</a:t>
            </a: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There is a critical need for a zero-emission, high-range alternative.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2756343"/>
            <a:ext cx="1619538" cy="369689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8" name="Text 5"/>
          <p:cNvSpPr/>
          <p:nvPr/>
        </p:nvSpPr>
        <p:spPr>
          <a:xfrm>
            <a:off x="857250" y="2756343"/>
            <a:ext cx="1619538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76788" y="2756343"/>
            <a:ext cx="1762358" cy="369689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0" name="Text 7"/>
          <p:cNvSpPr/>
          <p:nvPr/>
        </p:nvSpPr>
        <p:spPr>
          <a:xfrm>
            <a:off x="2476788" y="2756343"/>
            <a:ext cx="1762358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ICE (Petrol)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39146" y="2756343"/>
            <a:ext cx="1718993" cy="369689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2" name="Text 9"/>
          <p:cNvSpPr/>
          <p:nvPr/>
        </p:nvSpPr>
        <p:spPr>
          <a:xfrm>
            <a:off x="4239146" y="2756343"/>
            <a:ext cx="1718993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BEV (Electric)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58139" y="2756343"/>
            <a:ext cx="2328611" cy="369689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4" name="Text 11"/>
          <p:cNvSpPr/>
          <p:nvPr/>
        </p:nvSpPr>
        <p:spPr>
          <a:xfrm>
            <a:off x="5958139" y="2756343"/>
            <a:ext cx="2328611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Hydrogen Fuel Cell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7250" y="3126032"/>
            <a:ext cx="1619538" cy="3732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Emissions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476788" y="3126032"/>
            <a:ext cx="1762358" cy="3732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(CO2, NOx)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239146" y="3126032"/>
            <a:ext cx="1718993" cy="3732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(Tailpipe)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58139" y="3126032"/>
            <a:ext cx="2328611" cy="3732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(Water Vapor)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7250" y="3499293"/>
            <a:ext cx="1619538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Refueling Time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476788" y="3499293"/>
            <a:ext cx="1762358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3-5 Minutes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239146" y="3499293"/>
            <a:ext cx="1718993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2-8 Hours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58139" y="3499293"/>
            <a:ext cx="2328611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3-5 Minutes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57250" y="3876126"/>
            <a:ext cx="1619538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 Density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476788" y="3876126"/>
            <a:ext cx="1762358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239146" y="3876126"/>
            <a:ext cx="1718993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58139" y="3876126"/>
            <a:ext cx="2328611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Very High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57250" y="4252959"/>
            <a:ext cx="7429500" cy="376833"/>
          </a:xfrm>
          <a:prstGeom prst="rect">
            <a:avLst/>
          </a:prstGeom>
          <a:solidFill>
            <a:srgbClr val="FF6D00">
              <a:alpha val="5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57250" y="4252959"/>
            <a:ext cx="1619538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Overall Gap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476788" y="4252959"/>
            <a:ext cx="1762358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Polluting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239146" y="4252959"/>
            <a:ext cx="1718993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 Inefficient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58139" y="4252959"/>
            <a:ext cx="2328611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Sustainable &amp; Efficient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08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6106"/>
            <a:ext cx="7429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OBJECTIVES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556193"/>
            <a:ext cx="7429500" cy="123012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556193"/>
            <a:ext cx="71438" cy="123012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6" name="Text 3"/>
          <p:cNvSpPr/>
          <p:nvPr/>
        </p:nvSpPr>
        <p:spPr>
          <a:xfrm>
            <a:off x="1000125" y="1870518"/>
            <a:ext cx="7143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OBJECTIVE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0125" y="2163412"/>
            <a:ext cx="7143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 design and analyze a high-efficiency hydrogen-powered propulsion system for a two-wheeler vehicle.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7250" y="3000626"/>
            <a:ext cx="7429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Secondary Objectives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7250" y="3293520"/>
            <a:ext cx="3780467" cy="4000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the feasibility of compact hydrogen storage and delivery systems.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7250" y="3779295"/>
            <a:ext cx="3780467" cy="4000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performance characteristics (efficiency, range, torque) vs conventional engines.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57250" y="4265070"/>
            <a:ext cx="3780467" cy="4000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safety protocols for hydrogen handling in consumer-grade motorcycles.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7250" y="4750845"/>
            <a:ext cx="3780467" cy="4000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mathematical model for powertrain simulation and optimization.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6106"/>
            <a:ext cx="7429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WORKING PRINCIPLE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388734" y="1499043"/>
            <a:ext cx="571500" cy="600075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5" name="Shape 2"/>
          <p:cNvSpPr/>
          <p:nvPr/>
        </p:nvSpPr>
        <p:spPr>
          <a:xfrm>
            <a:off x="1388734" y="2070543"/>
            <a:ext cx="571500" cy="28575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6" name="Text 3"/>
          <p:cNvSpPr/>
          <p:nvPr/>
        </p:nvSpPr>
        <p:spPr>
          <a:xfrm>
            <a:off x="1388734" y="1499043"/>
            <a:ext cx="571500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700" dirty="0">
                <a:solidFill>
                  <a:srgbClr val="FF6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7250" y="2241547"/>
            <a:ext cx="163446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7250" y="2496936"/>
            <a:ext cx="163446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Compressed H2 gas stored in lightweight carbon-fiber cylinders.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320393" y="1499043"/>
            <a:ext cx="571500" cy="600075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0" name="Shape 7"/>
          <p:cNvSpPr/>
          <p:nvPr/>
        </p:nvSpPr>
        <p:spPr>
          <a:xfrm>
            <a:off x="3320393" y="2070543"/>
            <a:ext cx="571500" cy="28575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1" name="Text 8"/>
          <p:cNvSpPr/>
          <p:nvPr/>
        </p:nvSpPr>
        <p:spPr>
          <a:xfrm>
            <a:off x="3320393" y="1499043"/>
            <a:ext cx="571500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700" dirty="0">
                <a:solidFill>
                  <a:srgbClr val="FF6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788909" y="2241547"/>
            <a:ext cx="163446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REGULATION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88909" y="2496936"/>
            <a:ext cx="163446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regulators reduce H2 pressure for safe cell delivery.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252052" y="1499043"/>
            <a:ext cx="571500" cy="600075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5" name="Shape 12"/>
          <p:cNvSpPr/>
          <p:nvPr/>
        </p:nvSpPr>
        <p:spPr>
          <a:xfrm>
            <a:off x="5252052" y="2070543"/>
            <a:ext cx="571500" cy="28575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6" name="Text 13"/>
          <p:cNvSpPr/>
          <p:nvPr/>
        </p:nvSpPr>
        <p:spPr>
          <a:xfrm>
            <a:off x="5252052" y="1499043"/>
            <a:ext cx="571500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700" dirty="0">
                <a:solidFill>
                  <a:srgbClr val="FF6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720568" y="2241547"/>
            <a:ext cx="163446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20568" y="2496936"/>
            <a:ext cx="163446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reacts with O2 in PEM Fuel Cell to generate electricity.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183710" y="1499043"/>
            <a:ext cx="571500" cy="600075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20" name="Shape 17"/>
          <p:cNvSpPr/>
          <p:nvPr/>
        </p:nvSpPr>
        <p:spPr>
          <a:xfrm>
            <a:off x="7183710" y="2070543"/>
            <a:ext cx="571500" cy="28575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1" name="Text 18"/>
          <p:cNvSpPr/>
          <p:nvPr/>
        </p:nvSpPr>
        <p:spPr>
          <a:xfrm>
            <a:off x="7183710" y="1499043"/>
            <a:ext cx="571500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700" dirty="0">
                <a:solidFill>
                  <a:srgbClr val="FF6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652227" y="2241547"/>
            <a:ext cx="163446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PROPULSION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52227" y="2496936"/>
            <a:ext cx="163446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 motor converts energy to mechanical torque for wheels.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57250" y="3302701"/>
            <a:ext cx="7429500" cy="1231041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5" name="Shape 22"/>
          <p:cNvSpPr/>
          <p:nvPr/>
        </p:nvSpPr>
        <p:spPr>
          <a:xfrm>
            <a:off x="857250" y="3302701"/>
            <a:ext cx="57150" cy="1231041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6" name="Text 23"/>
          <p:cNvSpPr/>
          <p:nvPr/>
        </p:nvSpPr>
        <p:spPr>
          <a:xfrm>
            <a:off x="1000125" y="3597576"/>
            <a:ext cx="71437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Fuel Cell Chemical Reaction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746046" y="3806530"/>
            <a:ext cx="2057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5F7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2H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2951792" y="3872945"/>
            <a:ext cx="85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aseline="-40000" dirty="0">
                <a:solidFill>
                  <a:srgbClr val="F5F7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037517" y="3806530"/>
            <a:ext cx="4114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5F7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+ O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3449008" y="3872945"/>
            <a:ext cx="85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aseline="-40000" dirty="0">
                <a:solidFill>
                  <a:srgbClr val="F5F7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534733" y="3806530"/>
            <a:ext cx="5143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5F7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 2H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049083" y="3872945"/>
            <a:ext cx="85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aseline="-40000" dirty="0">
                <a:solidFill>
                  <a:srgbClr val="F5F7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134808" y="3806530"/>
            <a:ext cx="2263146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5F7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 + Electricity + Heat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000125" y="4139050"/>
            <a:ext cx="71437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byproduct is pure water vapor, making it 100% emission-free at the tailpipe.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6106"/>
            <a:ext cx="7429500" cy="82867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RESEARCH &amp; IMPLEMENTATION STRATEGY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913381"/>
            <a:ext cx="3607594" cy="3038549"/>
          </a:xfrm>
          <a:prstGeom prst="rect">
            <a:avLst/>
          </a:prstGeom>
          <a:solidFill>
            <a:srgbClr val="FF6D00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913381"/>
            <a:ext cx="3607594" cy="35719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6" name="Shape 3"/>
          <p:cNvSpPr/>
          <p:nvPr/>
        </p:nvSpPr>
        <p:spPr>
          <a:xfrm>
            <a:off x="1035844" y="2091975"/>
            <a:ext cx="896541" cy="176808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7" name="Text 4"/>
          <p:cNvSpPr/>
          <p:nvPr/>
        </p:nvSpPr>
        <p:spPr>
          <a:xfrm>
            <a:off x="1035844" y="2091975"/>
            <a:ext cx="896541" cy="176808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PHASE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035844" y="2511670"/>
            <a:ext cx="32504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424242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PHASE I: RESEARCH &amp; DESIGN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21594" y="2861714"/>
            <a:ext cx="2964656" cy="36003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literature review and base paper analysis.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321594" y="3328904"/>
            <a:ext cx="2964656" cy="36003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specification of fuel cell, motor, and storage.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21594" y="3796094"/>
            <a:ext cx="2964656" cy="36003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Mathematical modeling of the powertrain efficiency.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321594" y="4263284"/>
            <a:ext cx="2964656" cy="36003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using MATLAB/Simulink for range prediction.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79156" y="1913381"/>
            <a:ext cx="3607594" cy="30028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679156" y="1913381"/>
            <a:ext cx="3607594" cy="35719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5" name="Shape 12"/>
          <p:cNvSpPr/>
          <p:nvPr/>
        </p:nvSpPr>
        <p:spPr>
          <a:xfrm>
            <a:off x="4857750" y="2091975"/>
            <a:ext cx="962620" cy="176808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6" name="Text 13"/>
          <p:cNvSpPr/>
          <p:nvPr/>
        </p:nvSpPr>
        <p:spPr>
          <a:xfrm>
            <a:off x="4857750" y="2091975"/>
            <a:ext cx="962620" cy="176808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UPCOMING PHASE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857750" y="2511670"/>
            <a:ext cx="32504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424242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PHASE II: PROTOTYPE &amp; TESTING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43500" y="2861714"/>
            <a:ext cx="2964656" cy="36003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of hydrogen system into the two-wheeler chassis.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143500" y="3328904"/>
            <a:ext cx="2964656" cy="36003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performance testing and data acquisition.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143500" y="3796094"/>
            <a:ext cx="2964656" cy="18001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validation and pressure leak testing.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143500" y="4083267"/>
            <a:ext cx="2964656" cy="36003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 analysis with baseline petrol vehicles.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6106"/>
            <a:ext cx="7429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FEASIBILITY ANALYSIS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499043"/>
            <a:ext cx="2381241" cy="1499071"/>
          </a:xfrm>
          <a:prstGeom prst="rect">
            <a:avLst/>
          </a:prstGeom>
          <a:solidFill>
            <a:srgbClr val="212121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499043"/>
            <a:ext cx="2381241" cy="28575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6" name="Text 3"/>
          <p:cNvSpPr/>
          <p:nvPr/>
        </p:nvSpPr>
        <p:spPr>
          <a:xfrm>
            <a:off x="1000125" y="1784793"/>
            <a:ext cx="20954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0125" y="2072329"/>
            <a:ext cx="2095491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Maturity of PEM fuel cells and lightweight composite storage tanks ensure system reliability in compact form factors.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81366" y="1499043"/>
            <a:ext cx="2381241" cy="1499071"/>
          </a:xfrm>
          <a:prstGeom prst="rect">
            <a:avLst/>
          </a:prstGeom>
          <a:solidFill>
            <a:srgbClr val="212121">
              <a:alpha val="3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381366" y="1499043"/>
            <a:ext cx="2381241" cy="28575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0" name="Text 7"/>
          <p:cNvSpPr/>
          <p:nvPr/>
        </p:nvSpPr>
        <p:spPr>
          <a:xfrm>
            <a:off x="3524241" y="1784793"/>
            <a:ext cx="20954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ECONOMIC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24241" y="2072329"/>
            <a:ext cx="2095491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Decreasing cost of hydrogen production and government subsidies for green energy improve long-term viability.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05481" y="1499043"/>
            <a:ext cx="2381269" cy="1470496"/>
          </a:xfrm>
          <a:prstGeom prst="rect">
            <a:avLst/>
          </a:prstGeom>
          <a:solidFill>
            <a:srgbClr val="212121">
              <a:alpha val="3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905481" y="1499043"/>
            <a:ext cx="2381269" cy="28575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4" name="Text 11"/>
          <p:cNvSpPr/>
          <p:nvPr/>
        </p:nvSpPr>
        <p:spPr>
          <a:xfrm>
            <a:off x="6048356" y="1784793"/>
            <a:ext cx="20955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48356" y="2072329"/>
            <a:ext cx="20955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reduction in tailpipe emissions and potential for negative carbon footprint via green hydrogen.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57250" y="3183852"/>
            <a:ext cx="1798439" cy="326827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7" name="Text 14"/>
          <p:cNvSpPr/>
          <p:nvPr/>
        </p:nvSpPr>
        <p:spPr>
          <a:xfrm>
            <a:off x="857250" y="3183852"/>
            <a:ext cx="1798439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Metric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655689" y="3183852"/>
            <a:ext cx="1224567" cy="326827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9" name="Text 16"/>
          <p:cNvSpPr/>
          <p:nvPr/>
        </p:nvSpPr>
        <p:spPr>
          <a:xfrm>
            <a:off x="2655689" y="3183852"/>
            <a:ext cx="1224567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80256" y="3183852"/>
            <a:ext cx="4406494" cy="326827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21" name="Text 18"/>
          <p:cNvSpPr/>
          <p:nvPr/>
        </p:nvSpPr>
        <p:spPr>
          <a:xfrm>
            <a:off x="3880256" y="3183852"/>
            <a:ext cx="4406494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7250" y="3510679"/>
            <a:ext cx="1798439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Efficiency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655689" y="3510679"/>
            <a:ext cx="1224567" cy="330398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45-60%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880256" y="3510679"/>
            <a:ext cx="4406494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than conventional IC engines (25-30%)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57250" y="3841077"/>
            <a:ext cx="1798439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 Capability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655689" y="3841077"/>
            <a:ext cx="1224567" cy="33397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880256" y="3841077"/>
            <a:ext cx="4406494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Outperforms BEVs in long-distance urban travel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57250" y="4175047"/>
            <a:ext cx="1798439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655689" y="4175047"/>
            <a:ext cx="1224567" cy="33397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880256" y="4175047"/>
            <a:ext cx="4406494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strategic refueling network growth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6106"/>
            <a:ext cx="7429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LITERATURE REVIEW: BASE PAPERS (1/2)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499043"/>
            <a:ext cx="7429500" cy="146444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499043"/>
            <a:ext cx="35719" cy="1464441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6" name="Text 3"/>
          <p:cNvSpPr/>
          <p:nvPr/>
        </p:nvSpPr>
        <p:spPr>
          <a:xfrm>
            <a:off x="1000125" y="1641918"/>
            <a:ext cx="714375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Hydrogen as an alternative fuel: A comprehensive review of advancements and ongoing challenges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00125" y="2077687"/>
            <a:ext cx="7143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Source: ScienceDirect, 2025 | Authors: Various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00125" y="2284856"/>
            <a:ext cx="7143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FINDINGS: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000125" y="2471291"/>
            <a:ext cx="70740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 hydrogen's potential as a sustainable energy carrier, highlighting advancements in storage density and the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00125" y="2651308"/>
            <a:ext cx="39612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of modern PEM fuel cell stacks for mobile applications.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7250" y="3142078"/>
            <a:ext cx="7429500" cy="12751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57250" y="3142078"/>
            <a:ext cx="35719" cy="1275131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3" name="Text 10"/>
          <p:cNvSpPr/>
          <p:nvPr/>
        </p:nvSpPr>
        <p:spPr>
          <a:xfrm>
            <a:off x="1000125" y="3284953"/>
            <a:ext cx="7143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Well–to–wheel analysis of energy efficiency &amp; CO2 emissions for hybrids &amp; EVs in India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0125" y="3531412"/>
            <a:ext cx="7143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Source: Energy Journal, 2025 | Authors: Y. Nandola, et al.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000125" y="3738581"/>
            <a:ext cx="7143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FINDINGS: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00125" y="3925016"/>
            <a:ext cx="70187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comparative study demonstrating that hydrogen fuel cell vehicles exhibit the highest well-to-wheel efficiency (up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00125" y="3925016"/>
            <a:ext cx="7136606" cy="335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33%) with zero emissions when using green hydrogen.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6106"/>
            <a:ext cx="7429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LITERATURE REVIEW: BASE PAPERS (2/2)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499043"/>
            <a:ext cx="7429500" cy="12751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499043"/>
            <a:ext cx="35719" cy="1275131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6" name="Text 3"/>
          <p:cNvSpPr/>
          <p:nvPr/>
        </p:nvSpPr>
        <p:spPr>
          <a:xfrm>
            <a:off x="1000125" y="1641918"/>
            <a:ext cx="7143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and solutions of hydrogen fuel cells in transportation systems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00125" y="1888378"/>
            <a:ext cx="7143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Source: MDPI, 2024 | Authors: Various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00125" y="2095547"/>
            <a:ext cx="7143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FINDINGS: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000125" y="2281982"/>
            <a:ext cx="63811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Investigates practical implementation strategies for HFC in motorcycles and scooters, addressing thermal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00125" y="2461999"/>
            <a:ext cx="41273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and vibration resistance in two-wheeler environments.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7250" y="2952769"/>
            <a:ext cx="7429500" cy="12751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57250" y="2952769"/>
            <a:ext cx="35719" cy="1275131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3" name="Text 10"/>
          <p:cNvSpPr/>
          <p:nvPr/>
        </p:nvSpPr>
        <p:spPr>
          <a:xfrm>
            <a:off x="1000125" y="3095644"/>
            <a:ext cx="7143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Hydrogen Internal Combustion Engine Two Wheeler with On-board Metal Hydride Storage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0125" y="3342103"/>
            <a:ext cx="7143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Source: EERE, DOE | Authors: ECD Ovonics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000125" y="3549272"/>
            <a:ext cx="7143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121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FINDINGS: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00125" y="3735707"/>
            <a:ext cx="65954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Demonstrates the viability of solid-state hydrogen storage using metal hydrides for enhanced safety in small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00125" y="3735707"/>
            <a:ext cx="7131248" cy="335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vehicles, alongside HICE conversion performance data.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6106"/>
            <a:ext cx="7429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TIME FRAME (PHASE I)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838372"/>
            <a:ext cx="7429500" cy="14288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641918"/>
            <a:ext cx="857250" cy="39290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913381"/>
            <a:ext cx="857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1-3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2500313" y="1641918"/>
            <a:ext cx="857250" cy="39290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5"/>
          <p:cNvSpPr/>
          <p:nvPr/>
        </p:nvSpPr>
        <p:spPr>
          <a:xfrm>
            <a:off x="2500313" y="1913381"/>
            <a:ext cx="857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4-6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143375" y="1641918"/>
            <a:ext cx="857250" cy="39290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7"/>
          <p:cNvSpPr/>
          <p:nvPr/>
        </p:nvSpPr>
        <p:spPr>
          <a:xfrm>
            <a:off x="4143375" y="1913381"/>
            <a:ext cx="857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7-9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5786438" y="1641918"/>
            <a:ext cx="857250" cy="39290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9"/>
          <p:cNvSpPr/>
          <p:nvPr/>
        </p:nvSpPr>
        <p:spPr>
          <a:xfrm>
            <a:off x="5786438" y="1913381"/>
            <a:ext cx="857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10-12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7429500" y="1641918"/>
            <a:ext cx="857250" cy="39290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Text 11"/>
          <p:cNvSpPr/>
          <p:nvPr/>
        </p:nvSpPr>
        <p:spPr>
          <a:xfrm>
            <a:off x="7429500" y="1913381"/>
            <a:ext cx="857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13-14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57250" y="2463450"/>
            <a:ext cx="1565542" cy="280392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6" name="Text 13"/>
          <p:cNvSpPr/>
          <p:nvPr/>
        </p:nvSpPr>
        <p:spPr>
          <a:xfrm>
            <a:off x="857250" y="2463450"/>
            <a:ext cx="1565542" cy="28039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Timeline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422792" y="2463450"/>
            <a:ext cx="5863958" cy="280392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8" name="Text 15"/>
          <p:cNvSpPr/>
          <p:nvPr/>
        </p:nvSpPr>
        <p:spPr>
          <a:xfrm>
            <a:off x="2422792" y="2463450"/>
            <a:ext cx="5863958" cy="28039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7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Activities / Milestones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57250" y="2743842"/>
            <a:ext cx="1565542" cy="28396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1 - 3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422792" y="2743842"/>
            <a:ext cx="5863958" cy="28396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Survey, Domain Selection &amp; Problem Identification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57250" y="3027806"/>
            <a:ext cx="1565542" cy="28753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4 - 6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422792" y="3027806"/>
            <a:ext cx="5863958" cy="28753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 Setting &amp; Feasibility Analysis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57250" y="3315342"/>
            <a:ext cx="1565542" cy="28753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7 - 9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422792" y="3315342"/>
            <a:ext cx="5863958" cy="28753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of Base Papers &amp; Component Specification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57250" y="3602878"/>
            <a:ext cx="1565542" cy="28753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10 - 12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422792" y="3602878"/>
            <a:ext cx="5863958" cy="28753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Design &amp; Initial Modeling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857250" y="3890414"/>
            <a:ext cx="7429500" cy="287536"/>
          </a:xfrm>
          <a:prstGeom prst="rect">
            <a:avLst/>
          </a:prstGeom>
          <a:solidFill>
            <a:srgbClr val="FF6D00">
              <a:alpha val="1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57250" y="3890414"/>
            <a:ext cx="1565542" cy="28753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13 - 14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422792" y="3890414"/>
            <a:ext cx="5863958" cy="28753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424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Finalizing Phase I Report &amp; Zeroth Review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6106"/>
            <a:ext cx="7429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CONCLUSION &amp; FUTURE SCOPE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556193"/>
            <a:ext cx="3571875" cy="2397398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556193"/>
            <a:ext cx="57150" cy="2397398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6" name="Text 3"/>
          <p:cNvSpPr/>
          <p:nvPr/>
        </p:nvSpPr>
        <p:spPr>
          <a:xfrm>
            <a:off x="1071563" y="1904228"/>
            <a:ext cx="314325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D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1563" y="2209623"/>
            <a:ext cx="3143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Hydrogen energy represents a transformative step towards zero-emission urban mobility. Phase I establishes the technical foundation for hydrogen adoption in the two-wheeler segment, proving its viability over conventional fuels.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14875" y="1727643"/>
            <a:ext cx="3571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00625" y="2077687"/>
            <a:ext cx="3286125" cy="36003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of regenerative braking for improved energy efficiency.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00625" y="2544877"/>
            <a:ext cx="3286125" cy="36003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of metal-hydride storage for compact bikes.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00625" y="3012067"/>
            <a:ext cx="3286125" cy="36003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of IoT-based fuel monitoring systems.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00625" y="3479257"/>
            <a:ext cx="3286125" cy="36003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technology for heavy-duty long-range motorcycles.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7250" y="4382216"/>
            <a:ext cx="7429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1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</Words>
  <Application>Microsoft Office PowerPoint</Application>
  <PresentationFormat>On-screen Show (16:9)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Inter</vt:lpstr>
      <vt:lpstr>Inter Black</vt:lpstr>
      <vt:lpstr>Inter Bold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Srinivaas Manikandan</cp:lastModifiedBy>
  <cp:revision>2</cp:revision>
  <dcterms:created xsi:type="dcterms:W3CDTF">2026-06-29T09:44:41Z</dcterms:created>
  <dcterms:modified xsi:type="dcterms:W3CDTF">2026-08-14T17:31:31Z</dcterms:modified>
</cp:coreProperties>
</file>